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6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0" d="100"/>
          <a:sy n="110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presProps" Target="presProps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530629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رحّب باللجنة. قدّم نفسك والجامعة والمبادرة. المشروع تطبيق عملي لمبادئ OOP في سيناريو أكاديمي.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استعرض الأجندة بسرعة. ركّز أن العرض يغطي التصميم الكائني والتحقق والاختبارات وخطة المرحلة القادمة.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الهدف: تطبيق OOP عمليًا. ثلاثة محاور: إدارة – تحقق – تقارير.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اعرض الطبقات من أعلى لأسفل. Main بدون منطق أعمال، Service ينسق، Model يحمل القواعد.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اشرح الـ hierarchy: RoleProvider → Person → Student/Instructor → الأنواع الملموسة. Course يرتبط بـ Instructor وطلاب.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الشريحة الأهم. اذكر مثالاً سريعًا لكل مبدأ من الكود الفعلي.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مر سريعًا على الكيانات. ركّز على Course capacity و Grade derivation.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الـ validation يمنع حالة غير صالحة، والـ Exception المخصصة تجعل قاعدة التسجيل واضحة.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النتائج موثقة في Test Report. الاختبارات يدوية عبر Console.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التقارير تفصل العرض عن المنطق.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كن صريحًا: الفجوات معروفة ومخططة. الشفافية تزيد الثقة.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المرحلة 1 و 2 هما الأولوية القصوى للاكتمال.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اختم بتأكيد أن المشروع يحقق أهداف OOP ويضع أساسًا واضحًا للتطوير.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اشكر اللجنة وافتح باب الأسئلة.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6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workdir/artifacts/logo_mc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0040" y="201168"/>
            <a:ext cx="1005840" cy="694944"/>
          </a:xfrm>
          <a:prstGeom prst="rect">
            <a:avLst/>
          </a:prstGeom>
        </p:spPr>
      </p:pic>
      <p:pic>
        <p:nvPicPr>
          <p:cNvPr id="3" name="Image 1" descr="/home/workdir/artifacts/logo_de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228600"/>
            <a:ext cx="1005840" cy="658368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1463040" y="256032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Ministry of Communications and Information Technology</a:t>
            </a:r>
            <a:endParaRPr lang="en-US" sz="1100" dirty="0"/>
          </a:p>
        </p:txBody>
      </p:sp>
      <p:sp>
        <p:nvSpPr>
          <p:cNvPr id="5" name="Text 1"/>
          <p:cNvSpPr/>
          <p:nvPr/>
        </p:nvSpPr>
        <p:spPr>
          <a:xfrm>
            <a:off x="1463040" y="502920"/>
            <a:ext cx="6126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Egypt Pioneers Initiative  </a:t>
            </a:r>
            <a:endParaRPr lang="en-US" sz="1300" dirty="0"/>
          </a:p>
        </p:txBody>
      </p:sp>
      <p:pic>
        <p:nvPicPr>
          <p:cNvPr id="6" name="Image 2" descr="/home/workdir/artifacts/logo_s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03320" y="1005840"/>
            <a:ext cx="1737360" cy="1737360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365760" y="2880360"/>
            <a:ext cx="84124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6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</a:t>
            </a:r>
            <a:endParaRPr lang="en-US" sz="2600" dirty="0"/>
          </a:p>
        </p:txBody>
      </p:sp>
      <p:sp>
        <p:nvSpPr>
          <p:cNvPr id="8" name="Text 3"/>
          <p:cNvSpPr/>
          <p:nvPr/>
        </p:nvSpPr>
        <p:spPr>
          <a:xfrm>
            <a:off x="365760" y="3337560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 Object-Oriented Programming  •  Graduation Project</a:t>
            </a:r>
            <a:endParaRPr lang="en-US" sz="1500" dirty="0"/>
          </a:p>
        </p:txBody>
      </p:sp>
      <p:sp>
        <p:nvSpPr>
          <p:cNvPr id="9" name="Shape 4"/>
          <p:cNvSpPr/>
          <p:nvPr/>
        </p:nvSpPr>
        <p:spPr>
          <a:xfrm>
            <a:off x="3291840" y="3749040"/>
            <a:ext cx="2560320" cy="36576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5"/>
          <p:cNvSpPr/>
          <p:nvPr/>
        </p:nvSpPr>
        <p:spPr>
          <a:xfrm>
            <a:off x="365760" y="3977640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Mahmoud Bakri AbdelSamea Ahmed </a:t>
            </a:r>
            <a:endParaRPr lang="ar-EG" sz="1400" b="1" dirty="0">
              <a:solidFill>
                <a:srgbClr val="FFFFFF"/>
              </a:solidFill>
              <a:latin typeface="Arial" pitchFamily="34" charset="0"/>
              <a:ea typeface="Arial" pitchFamily="34" charset="-122"/>
              <a:cs typeface="Arial" pitchFamily="34" charset="-120"/>
            </a:endParaRPr>
          </a:p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 ONL5_SWD6_G1</a:t>
            </a:r>
            <a:endParaRPr lang="en-US" sz="1400" dirty="0"/>
          </a:p>
        </p:txBody>
      </p:sp>
      <p:sp>
        <p:nvSpPr>
          <p:cNvPr id="11" name="Text 6"/>
          <p:cNvSpPr/>
          <p:nvPr/>
        </p:nvSpPr>
        <p:spPr>
          <a:xfrm>
            <a:off x="365760" y="42976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2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  •  DEPI 2026/2027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86868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68580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Vision &amp; Scope</a:t>
            </a:r>
            <a:endParaRPr lang="en-US" sz="1500" dirty="0"/>
          </a:p>
        </p:txBody>
      </p:sp>
      <p:sp>
        <p:nvSpPr>
          <p:cNvPr id="9" name="Shape 7"/>
          <p:cNvSpPr/>
          <p:nvPr/>
        </p:nvSpPr>
        <p:spPr>
          <a:xfrm>
            <a:off x="457200" y="160020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68580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System Architecture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2" name="Text 10"/>
          <p:cNvSpPr/>
          <p:nvPr/>
        </p:nvSpPr>
        <p:spPr>
          <a:xfrm>
            <a:off x="6858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UML Class Diagram</a:t>
            </a:r>
            <a:endParaRPr lang="en-US" sz="1500" dirty="0"/>
          </a:p>
        </p:txBody>
      </p:sp>
      <p:sp>
        <p:nvSpPr>
          <p:cNvPr id="13" name="Shape 11"/>
          <p:cNvSpPr/>
          <p:nvPr/>
        </p:nvSpPr>
        <p:spPr>
          <a:xfrm>
            <a:off x="457200" y="306324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68580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OOP Principles</a:t>
            </a:r>
            <a:endParaRPr lang="en-US" sz="1500" dirty="0"/>
          </a:p>
        </p:txBody>
      </p:sp>
      <p:sp>
        <p:nvSpPr>
          <p:cNvPr id="15" name="Shape 13"/>
          <p:cNvSpPr/>
          <p:nvPr/>
        </p:nvSpPr>
        <p:spPr>
          <a:xfrm>
            <a:off x="457200" y="379476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6" name="Text 14"/>
          <p:cNvSpPr/>
          <p:nvPr/>
        </p:nvSpPr>
        <p:spPr>
          <a:xfrm>
            <a:off x="68580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Domain &amp; Business Rules</a:t>
            </a:r>
            <a:endParaRPr lang="en-US" sz="1500" dirty="0"/>
          </a:p>
        </p:txBody>
      </p:sp>
      <p:sp>
        <p:nvSpPr>
          <p:cNvPr id="17" name="Shape 15"/>
          <p:cNvSpPr/>
          <p:nvPr/>
        </p:nvSpPr>
        <p:spPr>
          <a:xfrm>
            <a:off x="4754880" y="86868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4983480" y="100584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Validation &amp; Exceptions</a:t>
            </a:r>
            <a:endParaRPr lang="en-US" sz="1500" dirty="0"/>
          </a:p>
        </p:txBody>
      </p:sp>
      <p:sp>
        <p:nvSpPr>
          <p:cNvPr id="19" name="Shape 17"/>
          <p:cNvSpPr/>
          <p:nvPr/>
        </p:nvSpPr>
        <p:spPr>
          <a:xfrm>
            <a:off x="4754880" y="160020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4983480" y="17373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Testing Evidence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4754880" y="233172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2" name="Text 20"/>
          <p:cNvSpPr/>
          <p:nvPr/>
        </p:nvSpPr>
        <p:spPr>
          <a:xfrm>
            <a:off x="498348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HTML Reporting</a:t>
            </a:r>
            <a:endParaRPr lang="en-US" sz="1500" dirty="0"/>
          </a:p>
        </p:txBody>
      </p:sp>
      <p:sp>
        <p:nvSpPr>
          <p:cNvPr id="23" name="Shape 21"/>
          <p:cNvSpPr/>
          <p:nvPr/>
        </p:nvSpPr>
        <p:spPr>
          <a:xfrm>
            <a:off x="4754880" y="306324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4" name="Text 22"/>
          <p:cNvSpPr/>
          <p:nvPr/>
        </p:nvSpPr>
        <p:spPr>
          <a:xfrm>
            <a:off x="4983480" y="320040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Gaps &amp; Next Phase</a:t>
            </a:r>
            <a:endParaRPr lang="en-US" sz="1500" dirty="0"/>
          </a:p>
        </p:txBody>
      </p:sp>
      <p:sp>
        <p:nvSpPr>
          <p:cNvPr id="25" name="Shape 23"/>
          <p:cNvSpPr/>
          <p:nvPr/>
        </p:nvSpPr>
        <p:spPr>
          <a:xfrm>
            <a:off x="4754880" y="3794760"/>
            <a:ext cx="4023360" cy="594360"/>
          </a:xfrm>
          <a:prstGeom prst="roundRect">
            <a:avLst>
              <a:gd name="adj" fmla="val 9231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4983480" y="39319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Conclusion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  •  PROJECT VISION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  •  DEPI 2026/2027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structured academic management system applying Java OOP to a real university scenario.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411480" y="13258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11480" y="132588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17320" y="1600200"/>
            <a:ext cx="640080" cy="6400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9436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MANAGE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8580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Students &amp; Instructors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68580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Courses &amp; Enrollment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68580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Grades &amp; Attendance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3291840" y="13258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6" name="Shape 13"/>
          <p:cNvSpPr/>
          <p:nvPr/>
        </p:nvSpPr>
        <p:spPr>
          <a:xfrm>
            <a:off x="3291840" y="132588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1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97680" y="1600200"/>
            <a:ext cx="640080" cy="640080"/>
          </a:xfrm>
          <a:prstGeom prst="rect">
            <a:avLst/>
          </a:prstGeom>
        </p:spPr>
      </p:pic>
      <p:sp>
        <p:nvSpPr>
          <p:cNvPr id="18" name="Text 14"/>
          <p:cNvSpPr/>
          <p:nvPr/>
        </p:nvSpPr>
        <p:spPr>
          <a:xfrm>
            <a:off x="347472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VALIDATE</a:t>
            </a:r>
            <a:endParaRPr lang="en-US" sz="1500" dirty="0"/>
          </a:p>
        </p:txBody>
      </p:sp>
      <p:sp>
        <p:nvSpPr>
          <p:cNvPr id="19" name="Text 15"/>
          <p:cNvSpPr/>
          <p:nvPr/>
        </p:nvSpPr>
        <p:spPr>
          <a:xfrm>
            <a:off x="356616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Input validation</a:t>
            </a:r>
            <a:endParaRPr lang="en-US" sz="1300" dirty="0"/>
          </a:p>
        </p:txBody>
      </p:sp>
      <p:sp>
        <p:nvSpPr>
          <p:cNvPr id="20" name="Text 16"/>
          <p:cNvSpPr/>
          <p:nvPr/>
        </p:nvSpPr>
        <p:spPr>
          <a:xfrm>
            <a:off x="356616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Business rules</a:t>
            </a:r>
            <a:endParaRPr lang="en-US" sz="1300" dirty="0"/>
          </a:p>
        </p:txBody>
      </p:sp>
      <p:sp>
        <p:nvSpPr>
          <p:cNvPr id="21" name="Text 17"/>
          <p:cNvSpPr/>
          <p:nvPr/>
        </p:nvSpPr>
        <p:spPr>
          <a:xfrm>
            <a:off x="356616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Domain exceptions</a:t>
            </a:r>
            <a:endParaRPr lang="en-US" sz="1300" dirty="0"/>
          </a:p>
        </p:txBody>
      </p:sp>
      <p:sp>
        <p:nvSpPr>
          <p:cNvPr id="22" name="Shape 18"/>
          <p:cNvSpPr/>
          <p:nvPr/>
        </p:nvSpPr>
        <p:spPr>
          <a:xfrm>
            <a:off x="6172200" y="1325880"/>
            <a:ext cx="2743200" cy="3200400"/>
          </a:xfrm>
          <a:prstGeom prst="roundRect">
            <a:avLst>
              <a:gd name="adj" fmla="val 2667"/>
            </a:avLst>
          </a:prstGeom>
          <a:solidFill>
            <a:srgbClr val="FFFFFF"/>
          </a:solidFill>
          <a:ln/>
          <a:effectLst>
            <a:outerShdw blurRad="762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Shape 19"/>
          <p:cNvSpPr/>
          <p:nvPr/>
        </p:nvSpPr>
        <p:spPr>
          <a:xfrm>
            <a:off x="6172200" y="132588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2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78040" y="1600200"/>
            <a:ext cx="640080" cy="640080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355080" y="237744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kern="0" spc="100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REPORT</a:t>
            </a:r>
            <a:endParaRPr lang="en-US" sz="1500" dirty="0"/>
          </a:p>
        </p:txBody>
      </p:sp>
      <p:sp>
        <p:nvSpPr>
          <p:cNvPr id="26" name="Text 21"/>
          <p:cNvSpPr/>
          <p:nvPr/>
        </p:nvSpPr>
        <p:spPr>
          <a:xfrm>
            <a:off x="6446520" y="288036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HTML academic reports</a:t>
            </a:r>
            <a:endParaRPr lang="en-US" sz="1300" dirty="0"/>
          </a:p>
        </p:txBody>
      </p:sp>
      <p:sp>
        <p:nvSpPr>
          <p:cNvPr id="27" name="Text 22"/>
          <p:cNvSpPr/>
          <p:nvPr/>
        </p:nvSpPr>
        <p:spPr>
          <a:xfrm>
            <a:off x="6446520" y="324612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Statistics dashboard</a:t>
            </a:r>
            <a:endParaRPr lang="en-US" sz="1300" dirty="0"/>
          </a:p>
        </p:txBody>
      </p:sp>
      <p:sp>
        <p:nvSpPr>
          <p:cNvPr id="28" name="Text 23"/>
          <p:cNvSpPr/>
          <p:nvPr/>
        </p:nvSpPr>
        <p:spPr>
          <a:xfrm>
            <a:off x="6446520" y="3611880"/>
            <a:ext cx="2286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Student full report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  •  SYSTEM ARCHITECTURE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  •  DEPI 2026/2027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731520" y="822960"/>
            <a:ext cx="7680960" cy="777240"/>
          </a:xfrm>
          <a:prstGeom prst="roundRect">
            <a:avLst>
              <a:gd name="adj" fmla="val 7059"/>
            </a:avLst>
          </a:prstGeom>
          <a:solidFill>
            <a:srgbClr val="0A2540"/>
          </a:solidFill>
          <a:ln/>
        </p:spPr>
      </p:sp>
      <p:sp>
        <p:nvSpPr>
          <p:cNvPr id="8" name="Text 6"/>
          <p:cNvSpPr/>
          <p:nvPr/>
        </p:nvSpPr>
        <p:spPr>
          <a:xfrm>
            <a:off x="1005840" y="9326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Presentation  •  Main (Console Menu)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005840" y="12344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User interaction loop  •  Menu-driven workflow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731520" y="1737360"/>
            <a:ext cx="7680960" cy="777240"/>
          </a:xfrm>
          <a:prstGeom prst="roundRect">
            <a:avLst>
              <a:gd name="adj" fmla="val 7059"/>
            </a:avLst>
          </a:prstGeom>
          <a:solidFill>
            <a:srgbClr val="1E3A5F"/>
          </a:solidFill>
          <a:ln/>
        </p:spPr>
      </p:sp>
      <p:sp>
        <p:nvSpPr>
          <p:cNvPr id="11" name="Text 9"/>
          <p:cNvSpPr/>
          <p:nvPr/>
        </p:nvSpPr>
        <p:spPr>
          <a:xfrm>
            <a:off x="1005840" y="18470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Service Layer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005840" y="21488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StudentManagementSystem  •  HTMLReportService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31520" y="2651760"/>
            <a:ext cx="7680960" cy="777240"/>
          </a:xfrm>
          <a:prstGeom prst="roundRect">
            <a:avLst>
              <a:gd name="adj" fmla="val 7059"/>
            </a:avLst>
          </a:prstGeom>
          <a:solidFill>
            <a:srgbClr val="0D9488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27614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Model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005840" y="30632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 •  Student  •  Instructor  •  Course  •  Grade  •  Attendance  •  Department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731520" y="3566160"/>
            <a:ext cx="7680960" cy="777240"/>
          </a:xfrm>
          <a:prstGeom prst="roundRect">
            <a:avLst>
              <a:gd name="adj" fmla="val 7059"/>
            </a:avLst>
          </a:prstGeom>
          <a:solidFill>
            <a:srgbClr val="0F766E"/>
          </a:solidFill>
          <a:ln/>
        </p:spPr>
      </p:sp>
      <p:sp>
        <p:nvSpPr>
          <p:cNvPr id="17" name="Text 15"/>
          <p:cNvSpPr/>
          <p:nvPr/>
        </p:nvSpPr>
        <p:spPr>
          <a:xfrm>
            <a:off x="1005840" y="3675888"/>
            <a:ext cx="71323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Support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1005840" y="3977640"/>
            <a:ext cx="7132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D0E0F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Enums (StudentType, InstructorType, AttendanceStatus)  •  CourseEnrollmentException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0292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365760" y="914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  •  UML CLASS DIAGRAM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  •  DEPI 2026/2027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/ 14</a:t>
            </a:r>
            <a:endParaRPr lang="en-US" sz="900" dirty="0"/>
          </a:p>
        </p:txBody>
      </p:sp>
      <p:pic>
        <p:nvPicPr>
          <p:cNvPr id="7" name="Image 0" descr="/home/workdir/artifacts/uml_class_diagram_clea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8600" y="640080"/>
            <a:ext cx="8686800" cy="41148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04  •  OOP PRINCIPLES DEMONSTRATED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  •  DEPI 2026/2027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686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6868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548640" y="1645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fields + validated setters protect object state.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3246120" y="8686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246120" y="86868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3" name="Text 11"/>
          <p:cNvSpPr/>
          <p:nvPr/>
        </p:nvSpPr>
        <p:spPr>
          <a:xfrm>
            <a:off x="342900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Inheritance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3429000" y="1645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 → Student / Instructor → concrete types.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126480" y="8686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126480" y="86868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7" name="Text 15"/>
          <p:cNvSpPr/>
          <p:nvPr/>
        </p:nvSpPr>
        <p:spPr>
          <a:xfrm>
            <a:off x="6309360" y="11430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Abstraction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309360" y="16459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Abstract Person, Student, Instructor define contracts.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365760" y="26974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365760" y="269748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Polymorphism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54864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Subclasses provide type-specific runtime behavior.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3246120" y="26974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3246120" y="269748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5" name="Text 23"/>
          <p:cNvSpPr/>
          <p:nvPr/>
        </p:nvSpPr>
        <p:spPr>
          <a:xfrm>
            <a:off x="342900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</a:t>
            </a:r>
            <a:endParaRPr lang="en-US" sz="1500" dirty="0"/>
          </a:p>
        </p:txBody>
      </p:sp>
      <p:sp>
        <p:nvSpPr>
          <p:cNvPr id="26" name="Text 24"/>
          <p:cNvSpPr/>
          <p:nvPr/>
        </p:nvSpPr>
        <p:spPr>
          <a:xfrm>
            <a:off x="342900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RoleProvider formalizes getRole() cleanly.</a:t>
            </a:r>
            <a:endParaRPr lang="en-US" sz="1300" dirty="0"/>
          </a:p>
        </p:txBody>
      </p:sp>
      <p:sp>
        <p:nvSpPr>
          <p:cNvPr id="27" name="Shape 25"/>
          <p:cNvSpPr/>
          <p:nvPr/>
        </p:nvSpPr>
        <p:spPr>
          <a:xfrm>
            <a:off x="6126480" y="2697480"/>
            <a:ext cx="274320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126480" y="269748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9" name="Text 27"/>
          <p:cNvSpPr/>
          <p:nvPr/>
        </p:nvSpPr>
        <p:spPr>
          <a:xfrm>
            <a:off x="6309360" y="297180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Composition</a:t>
            </a:r>
            <a:endParaRPr lang="en-US" sz="1500" dirty="0"/>
          </a:p>
        </p:txBody>
      </p:sp>
      <p:sp>
        <p:nvSpPr>
          <p:cNvPr id="30" name="Text 28"/>
          <p:cNvSpPr/>
          <p:nvPr/>
        </p:nvSpPr>
        <p:spPr>
          <a:xfrm>
            <a:off x="6309360" y="3474720"/>
            <a:ext cx="237744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 &amp; Course manage related objects.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05  •  DOMAIN MODEL &amp; BUSINESS RULES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  •  DEPI 2026/2027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3657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8" name="Text 6"/>
          <p:cNvSpPr/>
          <p:nvPr/>
        </p:nvSpPr>
        <p:spPr>
          <a:xfrm>
            <a:off x="640080" y="841248"/>
            <a:ext cx="25603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Entity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3383280" y="841248"/>
            <a:ext cx="50292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Key Responsibility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57200" y="1143000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123444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Person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383280" y="123444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Identity + contact + role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618488"/>
            <a:ext cx="822960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4" name="Text 12"/>
          <p:cNvSpPr/>
          <p:nvPr/>
        </p:nvSpPr>
        <p:spPr>
          <a:xfrm>
            <a:off x="640080" y="170992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3383280" y="170992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Major, year, GPA (UG / Grad)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57200" y="2093976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2185416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3383280" y="2185416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Dept, specialization, experience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2569464"/>
            <a:ext cx="822960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660904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3383280" y="2660904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 + enrollment (max 50)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457200" y="3044952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Text 21"/>
          <p:cNvSpPr/>
          <p:nvPr/>
        </p:nvSpPr>
        <p:spPr>
          <a:xfrm>
            <a:off x="640080" y="3136392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3383280" y="3136392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Score 0–100 → letter grade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57200" y="3520440"/>
            <a:ext cx="8229600" cy="47548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26" name="Text 24"/>
          <p:cNvSpPr/>
          <p:nvPr/>
        </p:nvSpPr>
        <p:spPr>
          <a:xfrm>
            <a:off x="640080" y="3611880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3383280" y="3611880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+ Course + Date + status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457200" y="3995928"/>
            <a:ext cx="8229600" cy="47548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Text 27"/>
          <p:cNvSpPr/>
          <p:nvPr/>
        </p:nvSpPr>
        <p:spPr>
          <a:xfrm>
            <a:off x="640080" y="4087368"/>
            <a:ext cx="25603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Department</a:t>
            </a:r>
            <a:endParaRPr lang="en-US" sz="1300" dirty="0"/>
          </a:p>
        </p:txBody>
      </p:sp>
      <p:sp>
        <p:nvSpPr>
          <p:cNvPr id="30" name="Text 28"/>
          <p:cNvSpPr/>
          <p:nvPr/>
        </p:nvSpPr>
        <p:spPr>
          <a:xfrm>
            <a:off x="3383280" y="4087368"/>
            <a:ext cx="50292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Aggregates students &amp; courses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06  •  VALIDATION &amp; EXCEPTION HANDLING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  •  DEPI 2026/2027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solidFill>
            <a:srgbClr val="0D9488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86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INPUT VALIDATION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41732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Names → non-blank, trimmed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76479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Age → &gt; 0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11226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Email → pattern match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459736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Phone → +201XXXXXXXXX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2807208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GPA → 0.0 – 4.0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1546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Score → 0 – 100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3502152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Year → 1 – 6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40080" y="3849624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Capacity → max 50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709160" y="822960"/>
            <a:ext cx="40233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4709160" y="822960"/>
            <a:ext cx="4023360" cy="41148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20" name="Text 18"/>
          <p:cNvSpPr/>
          <p:nvPr/>
        </p:nvSpPr>
        <p:spPr>
          <a:xfrm>
            <a:off x="4892040" y="886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DOMAIN EXCEPTION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150876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CourseEnrollmentException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4937760" y="1920240"/>
            <a:ext cx="3657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Checked exception for enrollment business rules.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25146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Triggered by: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074920" y="288036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Null student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074920" y="324612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Duplicate enrollment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5074920" y="3611880"/>
            <a:ext cx="34747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•  Capacity exceeded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07  •  TESTING EVIDENCE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  •  DEPI 2026/2027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8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024128"/>
            <a:ext cx="365760" cy="365760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1051560" y="9326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TC-01</a:t>
            </a:r>
            <a:endParaRPr lang="en-US" sz="1300" dirty="0"/>
          </a:p>
        </p:txBody>
      </p:sp>
      <p:sp>
        <p:nvSpPr>
          <p:cNvPr id="10" name="Text 7"/>
          <p:cNvSpPr/>
          <p:nvPr/>
        </p:nvSpPr>
        <p:spPr>
          <a:xfrm>
            <a:off x="1051560" y="1207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Valid student → ID assigned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4754880" y="82296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024128"/>
            <a:ext cx="365760" cy="36576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440680" y="9326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TC-02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40680" y="12070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Graduate + research area stored</a:t>
            </a:r>
            <a:endParaRPr lang="en-US" sz="1300" dirty="0"/>
          </a:p>
        </p:txBody>
      </p:sp>
      <p:sp>
        <p:nvSpPr>
          <p:cNvPr id="15" name="Shape 11"/>
          <p:cNvSpPr/>
          <p:nvPr/>
        </p:nvSpPr>
        <p:spPr>
          <a:xfrm>
            <a:off x="365760" y="173736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1938528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051560" y="1847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TC-03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1051560" y="2121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Invalid age/email/phone rejected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4754880" y="173736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0" name="Image 3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1938528"/>
            <a:ext cx="365760" cy="36576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5440680" y="18470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TC-04</a:t>
            </a:r>
            <a:endParaRPr lang="en-US" sz="1300" dirty="0"/>
          </a:p>
        </p:txBody>
      </p:sp>
      <p:sp>
        <p:nvSpPr>
          <p:cNvPr id="22" name="Text 16"/>
          <p:cNvSpPr/>
          <p:nvPr/>
        </p:nvSpPr>
        <p:spPr>
          <a:xfrm>
            <a:off x="5440680" y="21214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Duplicate enrollment → Exception</a:t>
            </a:r>
            <a:endParaRPr lang="en-US" sz="1300" dirty="0"/>
          </a:p>
        </p:txBody>
      </p:sp>
      <p:sp>
        <p:nvSpPr>
          <p:cNvPr id="23" name="Shape 17"/>
          <p:cNvSpPr/>
          <p:nvPr/>
        </p:nvSpPr>
        <p:spPr>
          <a:xfrm>
            <a:off x="365760" y="265176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4" name="Image 4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2852928"/>
            <a:ext cx="365760" cy="365760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1051560" y="2761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TC-05</a:t>
            </a:r>
            <a:endParaRPr lang="en-US" sz="1300" dirty="0"/>
          </a:p>
        </p:txBody>
      </p:sp>
      <p:sp>
        <p:nvSpPr>
          <p:cNvPr id="26" name="Text 19"/>
          <p:cNvSpPr/>
          <p:nvPr/>
        </p:nvSpPr>
        <p:spPr>
          <a:xfrm>
            <a:off x="1051560" y="3035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 90 → A + GPA 4.00</a:t>
            </a:r>
            <a:endParaRPr lang="en-US" sz="1300" dirty="0"/>
          </a:p>
        </p:txBody>
      </p:sp>
      <p:sp>
        <p:nvSpPr>
          <p:cNvPr id="27" name="Shape 20"/>
          <p:cNvSpPr/>
          <p:nvPr/>
        </p:nvSpPr>
        <p:spPr>
          <a:xfrm>
            <a:off x="4754880" y="265176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28" name="Image 5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2852928"/>
            <a:ext cx="365760" cy="365760"/>
          </a:xfrm>
          <a:prstGeom prst="rect">
            <a:avLst/>
          </a:prstGeom>
        </p:spPr>
      </p:pic>
      <p:sp>
        <p:nvSpPr>
          <p:cNvPr id="29" name="Text 21"/>
          <p:cNvSpPr/>
          <p:nvPr/>
        </p:nvSpPr>
        <p:spPr>
          <a:xfrm>
            <a:off x="5440680" y="27614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TC-06</a:t>
            </a:r>
            <a:endParaRPr lang="en-US" sz="1300" dirty="0"/>
          </a:p>
        </p:txBody>
      </p:sp>
      <p:sp>
        <p:nvSpPr>
          <p:cNvPr id="30" name="Text 22"/>
          <p:cNvSpPr/>
          <p:nvPr/>
        </p:nvSpPr>
        <p:spPr>
          <a:xfrm>
            <a:off x="5440680" y="30358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Attendance rate correct</a:t>
            </a:r>
            <a:endParaRPr lang="en-US" sz="1300" dirty="0"/>
          </a:p>
        </p:txBody>
      </p:sp>
      <p:sp>
        <p:nvSpPr>
          <p:cNvPr id="31" name="Shape 23"/>
          <p:cNvSpPr/>
          <p:nvPr/>
        </p:nvSpPr>
        <p:spPr>
          <a:xfrm>
            <a:off x="365760" y="356616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2" name="Image 6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8640" y="3767328"/>
            <a:ext cx="365760" cy="365760"/>
          </a:xfrm>
          <a:prstGeom prst="rect">
            <a:avLst/>
          </a:prstGeom>
        </p:spPr>
      </p:pic>
      <p:sp>
        <p:nvSpPr>
          <p:cNvPr id="33" name="Text 24"/>
          <p:cNvSpPr/>
          <p:nvPr/>
        </p:nvSpPr>
        <p:spPr>
          <a:xfrm>
            <a:off x="1051560" y="3675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TC-07</a:t>
            </a:r>
            <a:endParaRPr lang="en-US" sz="1300" dirty="0"/>
          </a:p>
        </p:txBody>
      </p:sp>
      <p:sp>
        <p:nvSpPr>
          <p:cNvPr id="34" name="Text 25"/>
          <p:cNvSpPr/>
          <p:nvPr/>
        </p:nvSpPr>
        <p:spPr>
          <a:xfrm>
            <a:off x="1051560" y="3950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HTML reports generated</a:t>
            </a:r>
            <a:endParaRPr lang="en-US" sz="1300" dirty="0"/>
          </a:p>
        </p:txBody>
      </p:sp>
      <p:sp>
        <p:nvSpPr>
          <p:cNvPr id="35" name="Shape 26"/>
          <p:cNvSpPr/>
          <p:nvPr/>
        </p:nvSpPr>
        <p:spPr>
          <a:xfrm>
            <a:off x="4754880" y="3566160"/>
            <a:ext cx="4160520" cy="777240"/>
          </a:xfrm>
          <a:prstGeom prst="roundRect">
            <a:avLst>
              <a:gd name="adj" fmla="val 7059"/>
            </a:avLst>
          </a:prstGeom>
          <a:solidFill>
            <a:srgbClr val="FFFFFF"/>
          </a:solidFill>
          <a:ln/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</p:sp>
      <p:pic>
        <p:nvPicPr>
          <p:cNvPr id="36" name="Image 7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37760" y="3767328"/>
            <a:ext cx="365760" cy="365760"/>
          </a:xfrm>
          <a:prstGeom prst="rect">
            <a:avLst/>
          </a:prstGeom>
        </p:spPr>
      </p:pic>
      <p:sp>
        <p:nvSpPr>
          <p:cNvPr id="37" name="Text 27"/>
          <p:cNvSpPr/>
          <p:nvPr/>
        </p:nvSpPr>
        <p:spPr>
          <a:xfrm>
            <a:off x="5440680" y="3675888"/>
            <a:ext cx="3200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94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TC-08</a:t>
            </a:r>
            <a:endParaRPr lang="en-US" sz="1300" dirty="0"/>
          </a:p>
        </p:txBody>
      </p:sp>
      <p:sp>
        <p:nvSpPr>
          <p:cNvPr id="38" name="Text 28"/>
          <p:cNvSpPr/>
          <p:nvPr/>
        </p:nvSpPr>
        <p:spPr>
          <a:xfrm>
            <a:off x="5440680" y="3950208"/>
            <a:ext cx="3200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Statistics match live counts</a:t>
            </a:r>
            <a:endParaRPr lang="en-US" sz="13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08  •  HTML REPORTING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  •  DEPI 2026/2027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/ 14</a:t>
            </a:r>
            <a:endParaRPr lang="en-US" sz="900" dirty="0"/>
          </a:p>
        </p:txBody>
      </p:sp>
      <p:sp>
        <p:nvSpPr>
          <p:cNvPr id="7" name="Text 5"/>
          <p:cNvSpPr/>
          <p:nvPr/>
        </p:nvSpPr>
        <p:spPr>
          <a:xfrm>
            <a:off x="457200" y="77724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i="1" dirty="0">
                <a:solidFill>
                  <a:srgbClr val="1A1A2E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HTMLReportService separates presentation from domain logic.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1280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65760" y="128016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0" name="Text 8"/>
          <p:cNvSpPr/>
          <p:nvPr/>
        </p:nvSpPr>
        <p:spPr>
          <a:xfrm>
            <a:off x="54864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54864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ID, Name, Type, Major, GPA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3246120" y="1280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3246120" y="128016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4" name="Text 12"/>
          <p:cNvSpPr/>
          <p:nvPr/>
        </p:nvSpPr>
        <p:spPr>
          <a:xfrm>
            <a:off x="342900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Instructors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42900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Type, Dept, Spec, Pay</a:t>
            </a:r>
            <a:endParaRPr lang="en-US" sz="1200" dirty="0"/>
          </a:p>
        </p:txBody>
      </p:sp>
      <p:sp>
        <p:nvSpPr>
          <p:cNvPr id="16" name="Shape 14"/>
          <p:cNvSpPr/>
          <p:nvPr/>
        </p:nvSpPr>
        <p:spPr>
          <a:xfrm>
            <a:off x="6126480" y="128016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126480" y="128016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18" name="Text 16"/>
          <p:cNvSpPr/>
          <p:nvPr/>
        </p:nvSpPr>
        <p:spPr>
          <a:xfrm>
            <a:off x="6309360" y="155448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Courses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09360" y="196596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Enrollment, Capacity, Rate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365760" y="28346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65760" y="283464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2" name="Text 20"/>
          <p:cNvSpPr/>
          <p:nvPr/>
        </p:nvSpPr>
        <p:spPr>
          <a:xfrm>
            <a:off x="54864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Grades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54864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Student, Course, Letter</a:t>
            </a:r>
            <a:endParaRPr lang="en-US" sz="1200" dirty="0"/>
          </a:p>
        </p:txBody>
      </p:sp>
      <p:sp>
        <p:nvSpPr>
          <p:cNvPr id="24" name="Shape 22"/>
          <p:cNvSpPr/>
          <p:nvPr/>
        </p:nvSpPr>
        <p:spPr>
          <a:xfrm>
            <a:off x="3246120" y="28346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246120" y="283464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26" name="Text 24"/>
          <p:cNvSpPr/>
          <p:nvPr/>
        </p:nvSpPr>
        <p:spPr>
          <a:xfrm>
            <a:off x="342900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Report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342900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Profile + Grades + Attendance</a:t>
            </a:r>
            <a:endParaRPr lang="en-US" sz="1200" dirty="0"/>
          </a:p>
        </p:txBody>
      </p:sp>
      <p:sp>
        <p:nvSpPr>
          <p:cNvPr id="28" name="Shape 26"/>
          <p:cNvSpPr/>
          <p:nvPr/>
        </p:nvSpPr>
        <p:spPr>
          <a:xfrm>
            <a:off x="6126480" y="2834640"/>
            <a:ext cx="2743200" cy="1325880"/>
          </a:xfrm>
          <a:prstGeom prst="roundRect">
            <a:avLst>
              <a:gd name="adj" fmla="val 5517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126480" y="2834640"/>
            <a:ext cx="2743200" cy="73152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0" name="Text 28"/>
          <p:cNvSpPr/>
          <p:nvPr/>
        </p:nvSpPr>
        <p:spPr>
          <a:xfrm>
            <a:off x="6309360" y="3108960"/>
            <a:ext cx="23774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A254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6309360" y="3520440"/>
            <a:ext cx="2377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System-wide statistics</a:t>
            </a:r>
            <a:endParaRPr lang="en-US" sz="12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09  •  CURRENT GAPS &amp; NEXT PHASE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  •  DEPI 2026/2027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365760" y="822960"/>
            <a:ext cx="411480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365760" y="822960"/>
            <a:ext cx="4114800" cy="411480"/>
          </a:xfrm>
          <a:prstGeom prst="rect">
            <a:avLst/>
          </a:prstGeom>
          <a:solidFill>
            <a:srgbClr val="B91C1C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886968"/>
            <a:ext cx="374904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CURRENT GAPS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 data persistence (in-memory)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64008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 automated Unit Tests (JUnit)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64008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 instructor delete operation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64008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Phone validation limited to +201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008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No authentication / roles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4008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Console-only interface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09160" y="822960"/>
            <a:ext cx="4023360" cy="3794760"/>
          </a:xfrm>
          <a:prstGeom prst="roundRect">
            <a:avLst>
              <a:gd name="adj" fmla="val 1928"/>
            </a:avLst>
          </a:prstGeom>
          <a:solidFill>
            <a:srgbClr val="FFFFFF"/>
          </a:solidFill>
          <a:ln/>
          <a:effectLst>
            <a:outerShdw blurRad="63500" dist="12700" dir="8100000" algn="bl" rotWithShape="0">
              <a:srgbClr val="000000">
                <a:alpha val="9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4709160" y="822960"/>
            <a:ext cx="4023360" cy="411480"/>
          </a:xfrm>
          <a:prstGeom prst="rect">
            <a:avLst/>
          </a:prstGeom>
          <a:solidFill>
            <a:srgbClr val="15803D"/>
          </a:solidFill>
          <a:ln/>
        </p:spPr>
      </p:sp>
      <p:sp>
        <p:nvSpPr>
          <p:cNvPr id="18" name="Text 16"/>
          <p:cNvSpPr/>
          <p:nvPr/>
        </p:nvSpPr>
        <p:spPr>
          <a:xfrm>
            <a:off x="4892040" y="886968"/>
            <a:ext cx="3657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1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 PHASE ADDITIONS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4937760" y="1463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JSON / SQLite persistence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4937760" y="19202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JUnit 5 unit + integration suite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937760" y="23774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Delete Instructor operation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4937760" y="28346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Flexible phone validation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4937760" y="32918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Simple login + roles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4937760" y="374904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▸  Optional JavaFX / Web UI</a:t>
            </a:r>
            <a:endParaRPr lang="en-US" sz="13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AF8F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8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  •  NEXT PHASE ROADMAP</a:t>
            </a:r>
            <a:endParaRPr lang="en-US" sz="1800" dirty="0"/>
          </a:p>
        </p:txBody>
      </p:sp>
      <p:sp>
        <p:nvSpPr>
          <p:cNvPr id="4" name="Shape 2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A2540"/>
          </a:solidFill>
          <a:ln/>
        </p:spPr>
      </p:sp>
      <p:sp>
        <p:nvSpPr>
          <p:cNvPr id="5" name="Text 3"/>
          <p:cNvSpPr/>
          <p:nvPr/>
        </p:nvSpPr>
        <p:spPr>
          <a:xfrm>
            <a:off x="274320" y="4919472"/>
            <a:ext cx="685800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Student Management System  •  DEPI 2026/2027</a:t>
            </a:r>
            <a:endParaRPr lang="en-US" sz="900" dirty="0"/>
          </a:p>
        </p:txBody>
      </p:sp>
      <p:sp>
        <p:nvSpPr>
          <p:cNvPr id="6" name="Text 4"/>
          <p:cNvSpPr/>
          <p:nvPr/>
        </p:nvSpPr>
        <p:spPr>
          <a:xfrm>
            <a:off x="7772400" y="4919472"/>
            <a:ext cx="10972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900" b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 / 14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457200" y="77724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594360" y="86868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</p:sp>
      <p:sp>
        <p:nvSpPr>
          <p:cNvPr id="9" name="Text 7"/>
          <p:cNvSpPr/>
          <p:nvPr/>
        </p:nvSpPr>
        <p:spPr>
          <a:xfrm>
            <a:off x="594360" y="90525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1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103120" y="8503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Persistence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103120" y="1069848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JSON or SQLite • Load/Save on start/exit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457200" y="141732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594360" y="150876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</p:sp>
      <p:sp>
        <p:nvSpPr>
          <p:cNvPr id="14" name="Text 12"/>
          <p:cNvSpPr/>
          <p:nvPr/>
        </p:nvSpPr>
        <p:spPr>
          <a:xfrm>
            <a:off x="594360" y="154533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2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2103120" y="149047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Testing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2103120" y="1709928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JUnit 5 for models, services &amp; rules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57200" y="205740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594360" y="214884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</p:sp>
      <p:sp>
        <p:nvSpPr>
          <p:cNvPr id="19" name="Text 17"/>
          <p:cNvSpPr/>
          <p:nvPr/>
        </p:nvSpPr>
        <p:spPr>
          <a:xfrm>
            <a:off x="594360" y="218541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3</a:t>
            </a:r>
            <a:endParaRPr lang="en-US" sz="1200" dirty="0"/>
          </a:p>
        </p:txBody>
      </p:sp>
      <p:sp>
        <p:nvSpPr>
          <p:cNvPr id="20" name="Text 18"/>
          <p:cNvSpPr/>
          <p:nvPr/>
        </p:nvSpPr>
        <p:spPr>
          <a:xfrm>
            <a:off x="2103120" y="213055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Security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2103120" y="2350008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Login + role-based access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457200" y="269748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594360" y="278892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</p:sp>
      <p:sp>
        <p:nvSpPr>
          <p:cNvPr id="24" name="Text 22"/>
          <p:cNvSpPr/>
          <p:nvPr/>
        </p:nvSpPr>
        <p:spPr>
          <a:xfrm>
            <a:off x="594360" y="282549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4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2103120" y="277063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UI Layer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2103120" y="2990088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JavaFX or web interface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457200" y="333756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594360" y="342900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</p:sp>
      <p:sp>
        <p:nvSpPr>
          <p:cNvPr id="29" name="Text 27"/>
          <p:cNvSpPr/>
          <p:nvPr/>
        </p:nvSpPr>
        <p:spPr>
          <a:xfrm>
            <a:off x="594360" y="346557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5</a:t>
            </a:r>
            <a:endParaRPr lang="en-US" sz="1200" dirty="0"/>
          </a:p>
        </p:txBody>
      </p:sp>
      <p:sp>
        <p:nvSpPr>
          <p:cNvPr id="30" name="Text 28"/>
          <p:cNvSpPr/>
          <p:nvPr/>
        </p:nvSpPr>
        <p:spPr>
          <a:xfrm>
            <a:off x="2103120" y="341071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103120" y="3630168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GPA trends • PDF/Excel export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977640"/>
            <a:ext cx="8229600" cy="548640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  <a:effectLst>
            <a:outerShdw blurRad="38100" dist="12700" dir="8100000" algn="bl" rotWithShape="0">
              <a:srgbClr val="000000">
                <a:alpha val="7000"/>
              </a:srgbClr>
            </a:outerShdw>
          </a:effectLst>
        </p:spPr>
      </p:sp>
      <p:sp>
        <p:nvSpPr>
          <p:cNvPr id="33" name="Shape 31"/>
          <p:cNvSpPr/>
          <p:nvPr/>
        </p:nvSpPr>
        <p:spPr>
          <a:xfrm>
            <a:off x="594360" y="4069080"/>
            <a:ext cx="1280160" cy="365760"/>
          </a:xfrm>
          <a:prstGeom prst="roundRect">
            <a:avLst>
              <a:gd name="adj" fmla="val 10000"/>
            </a:avLst>
          </a:prstGeom>
          <a:solidFill>
            <a:srgbClr val="0A2540"/>
          </a:solidFill>
          <a:ln/>
        </p:spPr>
      </p:sp>
      <p:sp>
        <p:nvSpPr>
          <p:cNvPr id="34" name="Text 32"/>
          <p:cNvSpPr/>
          <p:nvPr/>
        </p:nvSpPr>
        <p:spPr>
          <a:xfrm>
            <a:off x="594360" y="4105656"/>
            <a:ext cx="128016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Phase 6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2103120" y="4050792"/>
            <a:ext cx="22860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A1A2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Production</a:t>
            </a:r>
            <a:endParaRPr lang="en-US" sz="1400" dirty="0"/>
          </a:p>
        </p:txBody>
      </p:sp>
      <p:sp>
        <p:nvSpPr>
          <p:cNvPr id="36" name="Text 34"/>
          <p:cNvSpPr/>
          <p:nvPr/>
        </p:nvSpPr>
        <p:spPr>
          <a:xfrm>
            <a:off x="2103120" y="4270248"/>
            <a:ext cx="621792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A7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Logging • Packaging • Deploy</a:t>
            </a:r>
            <a:endParaRPr lang="en-US" sz="12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6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118872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kern="0" spc="300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CONCLUSION</a:t>
            </a:r>
            <a:endParaRPr lang="en-US" sz="1300" dirty="0"/>
          </a:p>
        </p:txBody>
      </p:sp>
      <p:sp>
        <p:nvSpPr>
          <p:cNvPr id="4" name="Text 2"/>
          <p:cNvSpPr/>
          <p:nvPr/>
        </p:nvSpPr>
        <p:spPr>
          <a:xfrm>
            <a:off x="640080" y="169164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complete academic domain model</a:t>
            </a:r>
            <a:endParaRPr lang="en-US" sz="2400" dirty="0"/>
          </a:p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implemented with practical Java OOP principles.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640080" y="2743200"/>
            <a:ext cx="77724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Encapsulation  •  Inheritance  •  Abstraction  •  Polymorphism</a:t>
            </a:r>
            <a:endParaRPr lang="en-US" sz="1400" dirty="0"/>
          </a:p>
          <a:p>
            <a:pPr marL="0" indent="0">
              <a:buNone/>
            </a:pPr>
            <a:r>
              <a:rPr lang="en-US" sz="14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Interface  •  Validation  •  Exceptions  •  Collections  •  Reporting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40080" y="3611880"/>
            <a:ext cx="1828800" cy="45720"/>
          </a:xfrm>
          <a:prstGeom prst="rect">
            <a:avLst/>
          </a:prstGeom>
          <a:solidFill>
            <a:srgbClr val="D4A017"/>
          </a:solidFill>
          <a:ln/>
        </p:spPr>
      </p:sp>
      <p:sp>
        <p:nvSpPr>
          <p:cNvPr id="7" name="Text 5"/>
          <p:cNvSpPr/>
          <p:nvPr/>
        </p:nvSpPr>
        <p:spPr>
          <a:xfrm>
            <a:off x="640080" y="388620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6162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D4A017"/>
          </a:solidFill>
          <a:ln/>
        </p:spPr>
      </p:sp>
      <p:pic>
        <p:nvPicPr>
          <p:cNvPr id="3" name="Image 0" descr="/home/workdir/artifacts/logo_mci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0040"/>
            <a:ext cx="1005840" cy="694944"/>
          </a:xfrm>
          <a:prstGeom prst="rect">
            <a:avLst/>
          </a:prstGeom>
        </p:spPr>
      </p:pic>
      <p:pic>
        <p:nvPicPr>
          <p:cNvPr id="4" name="Image 1" descr="/home/workdir/artifacts/logo_dep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35240" y="347472"/>
            <a:ext cx="1051560" cy="685800"/>
          </a:xfrm>
          <a:prstGeom prst="rect">
            <a:avLst/>
          </a:prstGeom>
        </p:spPr>
      </p:pic>
      <p:pic>
        <p:nvPicPr>
          <p:cNvPr id="5" name="Image 2" descr="/home/workdir/artifacts/logo_sms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794760" y="1143000"/>
            <a:ext cx="1554480" cy="155448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457200" y="28803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3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</a:t>
            </a:r>
            <a:endParaRPr lang="en-US" sz="3200" dirty="0"/>
          </a:p>
        </p:txBody>
      </p:sp>
      <p:sp>
        <p:nvSpPr>
          <p:cNvPr id="7" name="Text 2"/>
          <p:cNvSpPr/>
          <p:nvPr/>
        </p:nvSpPr>
        <p:spPr>
          <a:xfrm>
            <a:off x="457200" y="3474720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Mahmoud Bakri AbdelSamea Ahmed  </a:t>
            </a:r>
          </a:p>
          <a:p>
            <a:pPr marL="0" indent="0" algn="ctr">
              <a:buNone/>
            </a:pPr>
            <a:r>
              <a:rPr lang="en-US" sz="15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  ONL5_SWD6_G1</a:t>
            </a:r>
            <a:endParaRPr lang="en-US" sz="1500" dirty="0"/>
          </a:p>
        </p:txBody>
      </p:sp>
      <p:sp>
        <p:nvSpPr>
          <p:cNvPr id="8" name="Text 3"/>
          <p:cNvSpPr/>
          <p:nvPr/>
        </p:nvSpPr>
        <p:spPr>
          <a:xfrm>
            <a:off x="457200" y="384048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dirty="0">
                <a:solidFill>
                  <a:srgbClr val="A0B0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Digital Egypt Pioneers Initiative  </a:t>
            </a:r>
            <a:endParaRPr lang="en-US" sz="1300" dirty="0"/>
          </a:p>
        </p:txBody>
      </p:sp>
      <p:sp>
        <p:nvSpPr>
          <p:cNvPr id="9" name="Text 4"/>
          <p:cNvSpPr/>
          <p:nvPr/>
        </p:nvSpPr>
        <p:spPr>
          <a:xfrm>
            <a:off x="457200" y="4389120"/>
            <a:ext cx="8229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i="1" dirty="0">
                <a:solidFill>
                  <a:srgbClr val="D4A01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Questions &amp; Discussion Welcome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949</Words>
  <Application>Microsoft Office PowerPoint</Application>
  <PresentationFormat>On-screen Show (16:9)</PresentationFormat>
  <Paragraphs>213</Paragraphs>
  <Slides>14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14</vt:i4>
      </vt:variant>
    </vt:vector>
  </HeadingPairs>
  <TitlesOfParts>
    <vt:vector size="17" baseType="lpstr">
      <vt:lpstr>Arial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Management System - Graduation Project</dc:title>
  <dc:subject>DEPI Java OOP Project</dc:subject>
  <dc:creator>Mahmoud Bakri AbdelSamea Ahmed</dc:creator>
  <cp:lastModifiedBy>KA</cp:lastModifiedBy>
  <cp:revision>2</cp:revision>
  <dcterms:created xsi:type="dcterms:W3CDTF">2026-09-11T17:03:11Z</dcterms:created>
  <dcterms:modified xsi:type="dcterms:W3CDTF">2026-09-12T03:08:17Z</dcterms:modified>
</cp:coreProperties>
</file>